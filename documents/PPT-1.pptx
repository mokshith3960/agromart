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_rels/slideLayout5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12.xml.rels" ContentType="application/vnd.openxmlformats-package.relationships+xml"/>
  <Override PartName="/ppt/slides/_rels/slide10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4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6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tBDfr" TargetMode="Externa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228600" y="444240"/>
            <a:ext cx="7722720" cy="243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77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77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4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228600" y="888480"/>
            <a:ext cx="7495920" cy="1507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26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_COLUMN_TEXT_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4262760" cy="98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6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778280" y="228600"/>
            <a:ext cx="4137120" cy="4686120"/>
          </a:xfrm>
          <a:prstGeom prst="rect">
            <a:avLst/>
          </a:prstGeom>
          <a:noFill/>
          <a:ln w="9360">
            <a:solidFill>
              <a:schemeClr val="dk1"/>
            </a:solidFill>
            <a:round/>
          </a:ln>
        </p:spPr>
        <p:txBody>
          <a:bodyPr lIns="90000" rIns="90000" tIns="45000" bIns="4500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3_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228600" y="669600"/>
            <a:ext cx="5617080" cy="12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7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7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" name="Google Shape;86;p18"/>
          <p:cNvSpPr/>
          <p:nvPr/>
        </p:nvSpPr>
        <p:spPr>
          <a:xfrm>
            <a:off x="6732360" y="3519720"/>
            <a:ext cx="2182680" cy="79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algn="r" defTabSz="914400">
              <a:lnSpc>
                <a:spcPct val="100000"/>
              </a:lnSpc>
              <a:spcBef>
                <a:spcPts val="300"/>
              </a:spcBef>
              <a:tabLst>
                <a:tab algn="l" pos="0"/>
              </a:tabLst>
            </a:pPr>
            <a:r>
              <a:rPr b="1" lang="en" sz="1000" strike="noStrike" u="none">
                <a:solidFill>
                  <a:schemeClr val="dk1"/>
                </a:solidFill>
                <a:effectLst/>
                <a:uFillTx/>
                <a:latin typeface="Hind"/>
                <a:ea typeface="Hind"/>
              </a:rPr>
              <a:t>CREDITS:</a:t>
            </a:r>
            <a:r>
              <a:rPr b="0" lang="en" sz="1000" strike="noStrike" u="none">
                <a:solidFill>
                  <a:schemeClr val="dk1"/>
                </a:solidFill>
                <a:effectLst/>
                <a:uFillTx/>
                <a:latin typeface="Hind"/>
                <a:ea typeface="Hind"/>
              </a:rPr>
              <a:t> This presentation template was created by </a:t>
            </a:r>
            <a:r>
              <a:rPr b="1" lang="en" sz="1000" strike="noStrike" u="sng">
                <a:solidFill>
                  <a:schemeClr val="dk1"/>
                </a:solidFill>
                <a:effectLst/>
                <a:uFillTx/>
                <a:latin typeface="Hind"/>
                <a:ea typeface="Hind"/>
                <a:hlinkClick r:id="rId2"/>
              </a:rPr>
              <a:t>Slidesgo</a:t>
            </a:r>
            <a:r>
              <a:rPr b="0" lang="en" sz="1000" strike="noStrike" u="none">
                <a:solidFill>
                  <a:schemeClr val="dk1"/>
                </a:solidFill>
                <a:effectLst/>
                <a:uFillTx/>
                <a:latin typeface="Hind"/>
                <a:ea typeface="Hind"/>
              </a:rPr>
              <a:t>, and includes icons, infographics &amp; images by </a:t>
            </a:r>
            <a:r>
              <a:rPr b="1" lang="en" sz="1000" strike="noStrike" u="sng">
                <a:solidFill>
                  <a:schemeClr val="dk1"/>
                </a:solidFill>
                <a:effectLst/>
                <a:uFillTx/>
                <a:latin typeface="Hind"/>
                <a:ea typeface="Hind"/>
                <a:hlinkClick r:id="rId3"/>
              </a:rPr>
              <a:t>Freepik</a:t>
            </a:r>
            <a:r>
              <a:rPr b="0" lang="en" sz="1000" strike="noStrike" u="sng">
                <a:solidFill>
                  <a:schemeClr val="dk1"/>
                </a:solidFill>
                <a:effectLst/>
                <a:uFillTx/>
                <a:latin typeface="Hind"/>
                <a:ea typeface="Hind"/>
              </a:rPr>
              <a:t> 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68644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6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5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5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5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Google Shape;108;p25"/>
          <p:cNvCxnSpPr/>
          <p:nvPr/>
        </p:nvCxnSpPr>
        <p:spPr>
          <a:xfrm>
            <a:off x="114120" y="4451760"/>
            <a:ext cx="360" cy="749160"/>
          </a:xfrm>
          <a:prstGeom prst="straightConnector1">
            <a:avLst/>
          </a:prstGeom>
          <a:ln w="9525">
            <a:solidFill>
              <a:srgbClr val="ffffff"/>
            </a:solidFill>
            <a:round/>
          </a:ln>
        </p:spPr>
      </p:cxnSp>
      <p:cxnSp>
        <p:nvCxnSpPr>
          <p:cNvPr id="13" name="Google Shape;109;p25"/>
          <p:cNvCxnSpPr/>
          <p:nvPr/>
        </p:nvCxnSpPr>
        <p:spPr>
          <a:xfrm>
            <a:off x="5219280" y="3838320"/>
            <a:ext cx="3696480" cy="360"/>
          </a:xfrm>
          <a:prstGeom prst="straightConnector1">
            <a:avLst/>
          </a:prstGeom>
          <a:ln w="9525">
            <a:solidFill>
              <a:srgbClr val="ffffff"/>
            </a:solidFill>
            <a:round/>
          </a:ln>
        </p:spPr>
      </p:cxnSp>
      <p:sp>
        <p:nvSpPr>
          <p:cNvPr id="14" name=""/>
          <p:cNvSpPr/>
          <p:nvPr/>
        </p:nvSpPr>
        <p:spPr>
          <a:xfrm>
            <a:off x="228600" y="447840"/>
            <a:ext cx="7724520" cy="76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b">
            <a:normAutofit fontScale="85000" lnSpcReduction="1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000" strike="noStrike" u="none">
                <a:solidFill>
                  <a:srgbClr val="ffffff"/>
                </a:solidFill>
                <a:effectLst/>
                <a:uFillTx/>
                <a:latin typeface="Space Grotesk"/>
              </a:rPr>
              <a:t>AGROMART</a:t>
            </a:r>
            <a:endParaRPr b="0" lang="en-US" sz="60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5" name=""/>
          <p:cNvSpPr/>
          <p:nvPr/>
        </p:nvSpPr>
        <p:spPr>
          <a:xfrm>
            <a:off x="2676600" y="3009960"/>
            <a:ext cx="6238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b">
            <a:normAutofit/>
          </a:bodyPr>
          <a:p>
            <a:pPr algn="r"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Hind"/>
              </a:rPr>
              <a:t>Web-Based Agriculture Marketplace — MCA Project by Mokshith P J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_0:slide_img_emdfhl.jpg" descr=""/>
          <p:cNvPicPr/>
          <p:nvPr/>
        </p:nvPicPr>
        <p:blipFill>
          <a:blip r:embed="rId1"/>
          <a:stretch/>
        </p:blipFill>
        <p:spPr>
          <a:xfrm>
            <a:off x="4781520" y="228600"/>
            <a:ext cx="4133520" cy="4686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" name=""/>
          <p:cNvSpPr/>
          <p:nvPr/>
        </p:nvSpPr>
        <p:spPr>
          <a:xfrm>
            <a:off x="228600" y="228600"/>
            <a:ext cx="426672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fontScale="70000" lnSpcReduction="1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ffffff"/>
                </a:solidFill>
                <a:effectLst/>
                <a:uFillTx/>
                <a:latin typeface="Space Grotesk"/>
              </a:rPr>
              <a:t>Introduction</a:t>
            </a:r>
            <a:endParaRPr b="0" lang="en-US" sz="26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8" name=""/>
          <p:cNvSpPr/>
          <p:nvPr/>
        </p:nvSpPr>
        <p:spPr>
          <a:xfrm>
            <a:off x="228600" y="2219400"/>
            <a:ext cx="4352400" cy="22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lnSpcReduction="9999"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Hind"/>
              </a:rPr>
              <a:t>Agromart is a web platform connecting farmers, consumers, and vendors in a unified marketplace. It eliminates intermediaries by enabling </a:t>
            </a:r>
            <a:r>
              <a:rPr b="0" i="1" lang="en-US" sz="1200" strike="noStrike" u="none">
                <a:solidFill>
                  <a:srgbClr val="ffffff"/>
                </a:solidFill>
                <a:effectLst/>
                <a:uFillTx/>
                <a:latin typeface="Hind"/>
              </a:rPr>
              <a:t>direct crop sales</a:t>
            </a: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Hind"/>
              </a:rPr>
              <a:t>, bidding, and online purchases while supporting order and payment management.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Hind"/>
              </a:rPr>
              <a:t>The system aims to improve farmer income, increase market transparency, and simplify agricultural transactions through accessible web technology.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_0:slide_img_AIPail.jpg" descr=""/>
          <p:cNvPicPr/>
          <p:nvPr/>
        </p:nvPicPr>
        <p:blipFill>
          <a:blip r:embed="rId1"/>
          <a:stretch/>
        </p:blipFill>
        <p:spPr>
          <a:xfrm>
            <a:off x="457200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" name=""/>
          <p:cNvSpPr/>
          <p:nvPr/>
        </p:nvSpPr>
        <p:spPr>
          <a:xfrm>
            <a:off x="476280" y="476280"/>
            <a:ext cx="22856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5000" strike="noStrike" u="none">
                <a:solidFill>
                  <a:srgbClr val="ffffff"/>
                </a:solidFill>
                <a:effectLst/>
                <a:uFillTx/>
                <a:latin typeface="Space Grotesk"/>
              </a:rPr>
              <a:t>01</a:t>
            </a:r>
            <a:endParaRPr b="0" lang="en-US" sz="50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1" name=""/>
          <p:cNvSpPr/>
          <p:nvPr/>
        </p:nvSpPr>
        <p:spPr>
          <a:xfrm>
            <a:off x="476280" y="1428840"/>
            <a:ext cx="3619080" cy="12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Space Grotesk"/>
              </a:rPr>
              <a:t>Project Overview</a:t>
            </a:r>
            <a:endParaRPr b="0" lang="en-US" sz="40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2" name=""/>
          <p:cNvSpPr/>
          <p:nvPr/>
        </p:nvSpPr>
        <p:spPr>
          <a:xfrm>
            <a:off x="476280" y="3333600"/>
            <a:ext cx="3619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"/>
          <p:cNvSpPr/>
          <p:nvPr/>
        </p:nvSpPr>
        <p:spPr>
          <a:xfrm>
            <a:off x="228600" y="885960"/>
            <a:ext cx="749592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b">
            <a:normAutofit fontScale="70000" lnSpcReduction="1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ffffff"/>
                </a:solidFill>
                <a:effectLst/>
                <a:uFillTx/>
                <a:latin typeface="Space Grotesk"/>
              </a:rPr>
              <a:t>Purpose</a:t>
            </a:r>
            <a:endParaRPr b="0" lang="en-US" sz="26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4" name=""/>
          <p:cNvSpPr/>
          <p:nvPr/>
        </p:nvSpPr>
        <p:spPr>
          <a:xfrm>
            <a:off x="2523960" y="2629080"/>
            <a:ext cx="6391080" cy="129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fontScale="92500" lnSpcReduction="9999"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Hind"/>
              </a:rPr>
              <a:t>Provide a secure, centralized platform where farmers can </a:t>
            </a:r>
            <a:r>
              <a:rPr b="0" i="1" lang="en-US" sz="1200" strike="noStrike" u="none">
                <a:solidFill>
                  <a:srgbClr val="ffffff"/>
                </a:solidFill>
                <a:effectLst/>
                <a:uFillTx/>
                <a:latin typeface="Hind"/>
              </a:rPr>
              <a:t>sell directly</a:t>
            </a: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Hind"/>
              </a:rPr>
              <a:t> and consumers can bid or purchase produce.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Hind"/>
              </a:rPr>
              <a:t>Enable fair pricing, reduce dependence on middlemen, and streamline order/payment management to enhance market access for rural producers.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"/>
          <p:cNvSpPr/>
          <p:nvPr/>
        </p:nvSpPr>
        <p:spPr>
          <a:xfrm>
            <a:off x="476280" y="476280"/>
            <a:ext cx="819108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fontScale="85000" lnSpcReduction="1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Space Grotesk"/>
              </a:rPr>
              <a:t>Key Features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6" name=""/>
          <p:cNvSpPr/>
          <p:nvPr/>
        </p:nvSpPr>
        <p:spPr>
          <a:xfrm>
            <a:off x="476280" y="1905120"/>
            <a:ext cx="8191080" cy="152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lnSpcReduction="9999"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Hind"/>
              </a:rPr>
              <a:t>Support for </a:t>
            </a:r>
            <a:r>
              <a:rPr b="1" lang="en-US" sz="1600" strike="noStrike" u="none">
                <a:solidFill>
                  <a:srgbClr val="ffffff"/>
                </a:solidFill>
                <a:effectLst/>
                <a:uFillTx/>
                <a:latin typeface="Hind"/>
              </a:rPr>
              <a:t>crop uploads</a:t>
            </a: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Hind"/>
              </a:rPr>
              <a:t>, product listing, bidding, and online payments.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endParaRPr b="0" lang="en-US" sz="16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Hind"/>
              </a:rPr>
              <a:t>Role-based modules: </a:t>
            </a:r>
            <a:r>
              <a:rPr b="0" i="1" lang="en-US" sz="1600" strike="noStrike" u="none">
                <a:solidFill>
                  <a:srgbClr val="ffffff"/>
                </a:solidFill>
                <a:effectLst/>
                <a:uFillTx/>
                <a:latin typeface="Hind"/>
              </a:rPr>
              <a:t>Admin</a:t>
            </a: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Hind"/>
              </a:rPr>
              <a:t> management, </a:t>
            </a:r>
            <a:r>
              <a:rPr b="0" i="1" lang="en-US" sz="1600" strike="noStrike" u="none">
                <a:solidFill>
                  <a:srgbClr val="ffffff"/>
                </a:solidFill>
                <a:effectLst/>
                <a:uFillTx/>
                <a:latin typeface="Hind"/>
              </a:rPr>
              <a:t>Farmer</a:t>
            </a: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Hind"/>
              </a:rPr>
              <a:t> dashboards, and </a:t>
            </a:r>
            <a:r>
              <a:rPr b="0" i="1" lang="en-US" sz="1600" strike="noStrike" u="none">
                <a:solidFill>
                  <a:srgbClr val="ffffff"/>
                </a:solidFill>
                <a:effectLst/>
                <a:uFillTx/>
                <a:latin typeface="Hind"/>
              </a:rPr>
              <a:t>Consumer/Vendor</a:t>
            </a: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Hind"/>
              </a:rPr>
              <a:t> interfaces. Includes order tracking, notifications, and basic analytics for transaction oversight.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image_0:slide_img_eaBpil.jpg" descr=""/>
          <p:cNvPicPr/>
          <p:nvPr/>
        </p:nvPicPr>
        <p:blipFill>
          <a:blip r:embed="rId1"/>
          <a:stretch/>
        </p:blipFill>
        <p:spPr>
          <a:xfrm>
            <a:off x="457200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" name=""/>
          <p:cNvSpPr/>
          <p:nvPr/>
        </p:nvSpPr>
        <p:spPr>
          <a:xfrm>
            <a:off x="476280" y="476280"/>
            <a:ext cx="361908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fontScale="85000" lnSpcReduction="1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Space Grotesk"/>
              </a:rPr>
              <a:t>Stakeholders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9" name=""/>
          <p:cNvSpPr/>
          <p:nvPr/>
        </p:nvSpPr>
        <p:spPr>
          <a:xfrm>
            <a:off x="476280" y="1905120"/>
            <a:ext cx="3619080" cy="28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Hind"/>
              </a:rPr>
              <a:t>Primary users include </a:t>
            </a:r>
            <a:r>
              <a:rPr b="0" i="1" lang="en-US" sz="1600" strike="noStrike" u="none">
                <a:solidFill>
                  <a:srgbClr val="ffffff"/>
                </a:solidFill>
                <a:effectLst/>
                <a:uFillTx/>
                <a:latin typeface="Hind"/>
              </a:rPr>
              <a:t>farmers</a:t>
            </a: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Hind"/>
              </a:rPr>
              <a:t>, </a:t>
            </a:r>
            <a:r>
              <a:rPr b="0" i="1" lang="en-US" sz="1600" strike="noStrike" u="none">
                <a:solidFill>
                  <a:srgbClr val="ffffff"/>
                </a:solidFill>
                <a:effectLst/>
                <a:uFillTx/>
                <a:latin typeface="Hind"/>
              </a:rPr>
              <a:t>consumers/vendors</a:t>
            </a: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Hind"/>
              </a:rPr>
              <a:t>, and system </a:t>
            </a:r>
            <a:r>
              <a:rPr b="0" i="1" lang="en-US" sz="1600" strike="noStrike" u="none">
                <a:solidFill>
                  <a:srgbClr val="ffffff"/>
                </a:solidFill>
                <a:effectLst/>
                <a:uFillTx/>
                <a:latin typeface="Hind"/>
              </a:rPr>
              <a:t>administrators</a:t>
            </a: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Hind"/>
              </a:rPr>
              <a:t> responsible for platform governance.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endParaRPr b="0" lang="en-US" sz="16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Hind"/>
              </a:rPr>
              <a:t>Secondary stakeholders: payment providers, logistics partners, and the hosting/IT team supporting maintenance and scalability.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image_0:slide_img_cLCPjl.jpg" descr=""/>
          <p:cNvPicPr/>
          <p:nvPr/>
        </p:nvPicPr>
        <p:blipFill>
          <a:blip r:embed="rId1"/>
          <a:stretch/>
        </p:blipFill>
        <p:spPr>
          <a:xfrm>
            <a:off x="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" name=""/>
          <p:cNvSpPr/>
          <p:nvPr/>
        </p:nvSpPr>
        <p:spPr>
          <a:xfrm>
            <a:off x="5048280" y="476280"/>
            <a:ext cx="22856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5000" strike="noStrike" u="none">
                <a:solidFill>
                  <a:srgbClr val="ffffff"/>
                </a:solidFill>
                <a:effectLst/>
                <a:uFillTx/>
                <a:latin typeface="Space Grotesk"/>
              </a:rPr>
              <a:t>02</a:t>
            </a:r>
            <a:endParaRPr b="0" lang="en-US" sz="50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2" name=""/>
          <p:cNvSpPr/>
          <p:nvPr/>
        </p:nvSpPr>
        <p:spPr>
          <a:xfrm>
            <a:off x="5048280" y="1428840"/>
            <a:ext cx="3619080" cy="12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Space Grotesk"/>
              </a:rPr>
              <a:t>System Design</a:t>
            </a:r>
            <a:endParaRPr b="0" lang="en-US" sz="40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3" name=""/>
          <p:cNvSpPr/>
          <p:nvPr/>
        </p:nvSpPr>
        <p:spPr>
          <a:xfrm>
            <a:off x="5048280" y="3333600"/>
            <a:ext cx="3619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"/>
          <p:cNvSpPr/>
          <p:nvPr/>
        </p:nvSpPr>
        <p:spPr>
          <a:xfrm>
            <a:off x="228600" y="885960"/>
            <a:ext cx="749592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b">
            <a:normAutofit fontScale="70000" lnSpcReduction="1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ffffff"/>
                </a:solidFill>
                <a:effectLst/>
                <a:uFillTx/>
                <a:latin typeface="Space Grotesk"/>
              </a:rPr>
              <a:t>Architecture</a:t>
            </a:r>
            <a:endParaRPr b="0" lang="en-US" sz="26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5" name=""/>
          <p:cNvSpPr/>
          <p:nvPr/>
        </p:nvSpPr>
        <p:spPr>
          <a:xfrm>
            <a:off x="2523960" y="2629080"/>
            <a:ext cx="6391080" cy="129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Hind"/>
              </a:rPr>
              <a:t>Three-tier design: </a:t>
            </a:r>
            <a:r>
              <a:rPr b="0" i="1" lang="en-US" sz="1200" strike="noStrike" u="none">
                <a:solidFill>
                  <a:srgbClr val="ffffff"/>
                </a:solidFill>
                <a:effectLst/>
                <a:uFillTx/>
                <a:latin typeface="Hind"/>
              </a:rPr>
              <a:t>Presentation Layer</a:t>
            </a: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Hind"/>
              </a:rPr>
              <a:t> (HTML/CSS/JS), </a:t>
            </a:r>
            <a:r>
              <a:rPr b="0" i="1" lang="en-US" sz="1200" strike="noStrike" u="none">
                <a:solidFill>
                  <a:srgbClr val="ffffff"/>
                </a:solidFill>
                <a:effectLst/>
                <a:uFillTx/>
                <a:latin typeface="Hind"/>
              </a:rPr>
              <a:t>Business Logic</a:t>
            </a: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Hind"/>
              </a:rPr>
              <a:t> (PHP), and </a:t>
            </a:r>
            <a:r>
              <a:rPr b="0" i="1" lang="en-US" sz="1200" strike="noStrike" u="none">
                <a:solidFill>
                  <a:srgbClr val="ffffff"/>
                </a:solidFill>
                <a:effectLst/>
                <a:uFillTx/>
                <a:latin typeface="Hind"/>
              </a:rPr>
              <a:t>Data Access</a:t>
            </a: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Hind"/>
              </a:rPr>
              <a:t> (MySQL).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Hind"/>
              </a:rPr>
              <a:t>This structure ensures modularity, easier maintenance, and clear separation of concerns for scalable deployment.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image_0:slide_img_aNknjl.jpg" descr=""/>
          <p:cNvPicPr/>
          <p:nvPr/>
        </p:nvPicPr>
        <p:blipFill>
          <a:blip r:embed="rId1"/>
          <a:stretch/>
        </p:blipFill>
        <p:spPr>
          <a:xfrm>
            <a:off x="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" name=""/>
          <p:cNvSpPr/>
          <p:nvPr/>
        </p:nvSpPr>
        <p:spPr>
          <a:xfrm>
            <a:off x="5048280" y="476280"/>
            <a:ext cx="361908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fontScale="85000" lnSpcReduction="1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Space Grotesk"/>
              </a:rPr>
              <a:t>Database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8" name=""/>
          <p:cNvSpPr/>
          <p:nvPr/>
        </p:nvSpPr>
        <p:spPr>
          <a:xfrm>
            <a:off x="5048280" y="1905120"/>
            <a:ext cx="3619080" cy="259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lnSpcReduction="9999"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Hind"/>
              </a:rPr>
              <a:t>Relational MySQL schema with core tables: </a:t>
            </a:r>
            <a:r>
              <a:rPr b="1" lang="en-US" sz="1600" strike="noStrike" u="none">
                <a:solidFill>
                  <a:srgbClr val="ffffff"/>
                </a:solidFill>
                <a:effectLst/>
                <a:uFillTx/>
                <a:latin typeface="Hind"/>
              </a:rPr>
              <a:t>Farmers</a:t>
            </a: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Hind"/>
              </a:rPr>
              <a:t>, </a:t>
            </a:r>
            <a:r>
              <a:rPr b="1" lang="en-US" sz="1600" strike="noStrike" u="none">
                <a:solidFill>
                  <a:srgbClr val="ffffff"/>
                </a:solidFill>
                <a:effectLst/>
                <a:uFillTx/>
                <a:latin typeface="Hind"/>
              </a:rPr>
              <a:t>Consumers</a:t>
            </a: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Hind"/>
              </a:rPr>
              <a:t>, </a:t>
            </a:r>
            <a:r>
              <a:rPr b="1" lang="en-US" sz="1600" strike="noStrike" u="none">
                <a:solidFill>
                  <a:srgbClr val="ffffff"/>
                </a:solidFill>
                <a:effectLst/>
                <a:uFillTx/>
                <a:latin typeface="Hind"/>
              </a:rPr>
              <a:t>Crops</a:t>
            </a: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Hind"/>
              </a:rPr>
              <a:t>, </a:t>
            </a:r>
            <a:r>
              <a:rPr b="1" lang="en-US" sz="1600" strike="noStrike" u="none">
                <a:solidFill>
                  <a:srgbClr val="ffffff"/>
                </a:solidFill>
                <a:effectLst/>
                <a:uFillTx/>
                <a:latin typeface="Hind"/>
              </a:rPr>
              <a:t>Orders</a:t>
            </a: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Hind"/>
              </a:rPr>
              <a:t>, and </a:t>
            </a:r>
            <a:r>
              <a:rPr b="1" lang="en-US" sz="1600" strike="noStrike" u="none">
                <a:solidFill>
                  <a:srgbClr val="ffffff"/>
                </a:solidFill>
                <a:effectLst/>
                <a:uFillTx/>
                <a:latin typeface="Hind"/>
              </a:rPr>
              <a:t>Payments</a:t>
            </a: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Hind"/>
              </a:rPr>
              <a:t>.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endParaRPr b="0" lang="en-US" sz="16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Hind"/>
              </a:rPr>
              <a:t>Normalized relations maintain data integrity and support bidding, order tracking, and transactional consistency.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"/>
          <p:cNvSpPr/>
          <p:nvPr/>
        </p:nvSpPr>
        <p:spPr>
          <a:xfrm>
            <a:off x="476280" y="476280"/>
            <a:ext cx="819108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fontScale="85000" lnSpcReduction="1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Space Grotesk"/>
              </a:rPr>
              <a:t>Modules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0" name=""/>
          <p:cNvSpPr/>
          <p:nvPr/>
        </p:nvSpPr>
        <p:spPr>
          <a:xfrm>
            <a:off x="476280" y="1905120"/>
            <a:ext cx="8191080" cy="167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fontScale="92500" lnSpcReduction="9999"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Hind"/>
              </a:rPr>
              <a:t>Role-based modules: </a:t>
            </a:r>
            <a:r>
              <a:rPr b="0" i="1" lang="en-US" sz="1600" strike="noStrike" u="none">
                <a:solidFill>
                  <a:srgbClr val="ffffff"/>
                </a:solidFill>
                <a:effectLst/>
                <a:uFillTx/>
                <a:latin typeface="Hind"/>
              </a:rPr>
              <a:t>Admin</a:t>
            </a: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Hind"/>
              </a:rPr>
              <a:t> (user/product/order management), </a:t>
            </a:r>
            <a:r>
              <a:rPr b="0" i="1" lang="en-US" sz="1600" strike="noStrike" u="none">
                <a:solidFill>
                  <a:srgbClr val="ffffff"/>
                </a:solidFill>
                <a:effectLst/>
                <a:uFillTx/>
                <a:latin typeface="Hind"/>
              </a:rPr>
              <a:t>Farmer</a:t>
            </a: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Hind"/>
              </a:rPr>
              <a:t> (crop upload, bids, payments), </a:t>
            </a:r>
            <a:r>
              <a:rPr b="0" i="1" lang="en-US" sz="1600" strike="noStrike" u="none">
                <a:solidFill>
                  <a:srgbClr val="ffffff"/>
                </a:solidFill>
                <a:effectLst/>
                <a:uFillTx/>
                <a:latin typeface="Hind"/>
              </a:rPr>
              <a:t>Consumer/Vendor</a:t>
            </a: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Hind"/>
              </a:rPr>
              <a:t> (browse, bid, order).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endParaRPr b="0" lang="en-US" sz="16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Hind"/>
              </a:rPr>
              <a:t>Shared services include authentication, notifications, reporting, and payment integration for end-to-end operations.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"/>
          <p:cNvSpPr/>
          <p:nvPr/>
        </p:nvSpPr>
        <p:spPr>
          <a:xfrm>
            <a:off x="228600" y="885960"/>
            <a:ext cx="749592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b">
            <a:normAutofit fontScale="70000" lnSpcReduction="1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ffffff"/>
                </a:solidFill>
                <a:effectLst/>
                <a:uFillTx/>
                <a:latin typeface="Space Grotesk"/>
              </a:rPr>
              <a:t>Conclusions</a:t>
            </a:r>
            <a:endParaRPr b="0" lang="en-US" sz="26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2" name=""/>
          <p:cNvSpPr/>
          <p:nvPr/>
        </p:nvSpPr>
        <p:spPr>
          <a:xfrm>
            <a:off x="2523960" y="2629080"/>
            <a:ext cx="6391080" cy="129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fontScale="92500" lnSpcReduction="9999"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Hind"/>
              </a:rPr>
              <a:t>Agromart delivers a professional, centralized marketplace that reduces intermediaries and enables direct farmer-consumer transactions.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Hind"/>
              </a:rPr>
              <a:t>The modular architecture and clear data model support future enhancements like mobile apps and cloud deployment to scale access and performance.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228600" y="-416160"/>
            <a:ext cx="5619240" cy="2377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7200" strike="noStrike" u="none">
                <a:solidFill>
                  <a:schemeClr val="dk1"/>
                </a:solidFill>
                <a:effectLst/>
                <a:uFillTx/>
                <a:latin typeface="Space Grotesk"/>
                <a:ea typeface="Space Grotesk"/>
              </a:rPr>
              <a:t>Thank you</a:t>
            </a:r>
            <a:endParaRPr b="0" lang="fr-FR" sz="7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subTitle"/>
          </p:nvPr>
        </p:nvSpPr>
        <p:spPr>
          <a:xfrm>
            <a:off x="228600" y="1962000"/>
            <a:ext cx="2609640" cy="1047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1400" strike="noStrike" u="none">
                <a:solidFill>
                  <a:schemeClr val="dk1"/>
                </a:solidFill>
                <a:effectLst/>
                <a:uFillTx/>
                <a:latin typeface="Hind"/>
                <a:ea typeface="Hind"/>
              </a:rPr>
              <a:t>Do you have any questions?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trike="noStrike" u="none">
                <a:solidFill>
                  <a:schemeClr val="dk1"/>
                </a:solidFill>
                <a:effectLst/>
                <a:uFillTx/>
                <a:latin typeface="Hind"/>
                <a:ea typeface="Hind"/>
              </a:rPr>
              <a:t>youremail@freepik.com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trike="noStrike" u="none">
                <a:solidFill>
                  <a:schemeClr val="dk1"/>
                </a:solidFill>
                <a:effectLst/>
                <a:uFillTx/>
                <a:latin typeface="Hind"/>
                <a:ea typeface="Hind"/>
              </a:rPr>
              <a:t>+00 000 000 000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trike="noStrike" u="none">
                <a:solidFill>
                  <a:schemeClr val="dk1"/>
                </a:solidFill>
                <a:effectLst/>
                <a:uFillTx/>
                <a:latin typeface="Hind"/>
                <a:ea typeface="Hind"/>
              </a:rPr>
              <a:t>yourwebsite.com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5" name="Google Shape;310;p38"/>
          <p:cNvSpPr/>
          <p:nvPr/>
        </p:nvSpPr>
        <p:spPr>
          <a:xfrm>
            <a:off x="6657840" y="4324320"/>
            <a:ext cx="218088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" sz="1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Please keep this slide for attribution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cxnSp>
        <p:nvCxnSpPr>
          <p:cNvPr id="46" name="Google Shape;311;p38"/>
          <p:cNvCxnSpPr/>
          <p:nvPr/>
        </p:nvCxnSpPr>
        <p:spPr>
          <a:xfrm>
            <a:off x="290520" y="3008880"/>
            <a:ext cx="2544120" cy="360"/>
          </a:xfrm>
          <a:prstGeom prst="straightConnector1">
            <a:avLst/>
          </a:prstGeom>
          <a:ln w="9525">
            <a:solidFill>
              <a:srgbClr val="ffffff"/>
            </a:solidFill>
            <a:round/>
          </a:ln>
        </p:spPr>
      </p:cxnSp>
      <p:grpSp>
        <p:nvGrpSpPr>
          <p:cNvPr id="47" name="Google Shape;312;p38"/>
          <p:cNvGrpSpPr/>
          <p:nvPr/>
        </p:nvGrpSpPr>
        <p:grpSpPr>
          <a:xfrm>
            <a:off x="8580960" y="3185280"/>
            <a:ext cx="257760" cy="257760"/>
            <a:chOff x="8580960" y="3185280"/>
            <a:chExt cx="257760" cy="257760"/>
          </a:xfrm>
        </p:grpSpPr>
        <p:sp>
          <p:nvSpPr>
            <p:cNvPr id="48" name="Google Shape;313;p38"/>
            <p:cNvSpPr/>
            <p:nvPr/>
          </p:nvSpPr>
          <p:spPr>
            <a:xfrm>
              <a:off x="8653680" y="3248280"/>
              <a:ext cx="112320" cy="132120"/>
            </a:xfrm>
            <a:custGeom>
              <a:avLst/>
              <a:gdLst>
                <a:gd name="textAreaLeft" fmla="*/ 0 w 112320"/>
                <a:gd name="textAreaRight" fmla="*/ 112680 w 112320"/>
                <a:gd name="textAreaTop" fmla="*/ 0 h 132120"/>
                <a:gd name="textAreaBottom" fmla="*/ 132480 h 132120"/>
              </a:gdLst>
              <a:ahLst/>
              <a:cxnLst/>
              <a:rect l="textAreaLeft" t="textAreaTop" r="textAreaRight" b="textAreaBottom"/>
              <a:pathLst>
                <a:path w="1496854" h="1758990">
                  <a:moveTo>
                    <a:pt x="0" y="0"/>
                  </a:moveTo>
                  <a:lnTo>
                    <a:pt x="1229717" y="1758990"/>
                  </a:lnTo>
                  <a:lnTo>
                    <a:pt x="1496855" y="1758990"/>
                  </a:lnTo>
                  <a:lnTo>
                    <a:pt x="26716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9" name="Google Shape;314;p38"/>
            <p:cNvSpPr/>
            <p:nvPr/>
          </p:nvSpPr>
          <p:spPr>
            <a:xfrm>
              <a:off x="8580960" y="3185280"/>
              <a:ext cx="257760" cy="257760"/>
            </a:xfrm>
            <a:custGeom>
              <a:avLst/>
              <a:gdLst>
                <a:gd name="textAreaLeft" fmla="*/ 0 w 257760"/>
                <a:gd name="textAreaRight" fmla="*/ 258120 w 257760"/>
                <a:gd name="textAreaTop" fmla="*/ 0 h 257760"/>
                <a:gd name="textAreaBottom" fmla="*/ 258120 h 257760"/>
              </a:gdLst>
              <a:ahLst/>
              <a:cxnLst/>
              <a:rect l="textAreaLeft" t="textAreaTop" r="textAreaRight" b="textAreaBottom"/>
              <a:pathLst>
                <a:path w="3429000" h="3429000">
                  <a:moveTo>
                    <a:pt x="1714500" y="0"/>
                  </a:moveTo>
                  <a:cubicBezTo>
                    <a:pt x="767627" y="0"/>
                    <a:pt x="0" y="767627"/>
                    <a:pt x="0" y="1714500"/>
                  </a:cubicBezTo>
                  <a:cubicBezTo>
                    <a:pt x="0" y="2661374"/>
                    <a:pt x="767627" y="3429000"/>
                    <a:pt x="1714500" y="3429000"/>
                  </a:cubicBezTo>
                  <a:cubicBezTo>
                    <a:pt x="2661374" y="3429000"/>
                    <a:pt x="3429000" y="2661374"/>
                    <a:pt x="3429000" y="1714500"/>
                  </a:cubicBezTo>
                  <a:cubicBezTo>
                    <a:pt x="3429000" y="767627"/>
                    <a:pt x="2661374" y="0"/>
                    <a:pt x="1714500" y="0"/>
                  </a:cubicBezTo>
                  <a:close/>
                  <a:moveTo>
                    <a:pt x="2113209" y="2721067"/>
                  </a:moveTo>
                  <a:lnTo>
                    <a:pt x="1575663" y="1938768"/>
                  </a:lnTo>
                  <a:lnTo>
                    <a:pt x="902663" y="2721067"/>
                  </a:lnTo>
                  <a:lnTo>
                    <a:pt x="728725" y="2721067"/>
                  </a:lnTo>
                  <a:lnTo>
                    <a:pt x="1498448" y="1826397"/>
                  </a:lnTo>
                  <a:lnTo>
                    <a:pt x="728725" y="706173"/>
                  </a:lnTo>
                  <a:lnTo>
                    <a:pt x="1315791" y="706173"/>
                  </a:lnTo>
                  <a:lnTo>
                    <a:pt x="1824804" y="1446971"/>
                  </a:lnTo>
                  <a:lnTo>
                    <a:pt x="2462089" y="706173"/>
                  </a:lnTo>
                  <a:lnTo>
                    <a:pt x="2635998" y="706173"/>
                  </a:lnTo>
                  <a:lnTo>
                    <a:pt x="1902047" y="1559343"/>
                  </a:lnTo>
                  <a:lnTo>
                    <a:pt x="1901991" y="1559343"/>
                  </a:lnTo>
                  <a:lnTo>
                    <a:pt x="2700247" y="2721067"/>
                  </a:lnTo>
                  <a:lnTo>
                    <a:pt x="2113181" y="2721067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50" name="Google Shape;315;p38"/>
          <p:cNvGrpSpPr/>
          <p:nvPr/>
        </p:nvGrpSpPr>
        <p:grpSpPr>
          <a:xfrm>
            <a:off x="7267680" y="3191400"/>
            <a:ext cx="238320" cy="238320"/>
            <a:chOff x="7267680" y="3191400"/>
            <a:chExt cx="238320" cy="238320"/>
          </a:xfrm>
        </p:grpSpPr>
        <p:sp>
          <p:nvSpPr>
            <p:cNvPr id="51" name="Google Shape;316;p38"/>
            <p:cNvSpPr/>
            <p:nvPr/>
          </p:nvSpPr>
          <p:spPr>
            <a:xfrm>
              <a:off x="7380360" y="3233160"/>
              <a:ext cx="81360" cy="196560"/>
            </a:xfrm>
            <a:custGeom>
              <a:avLst/>
              <a:gdLst>
                <a:gd name="textAreaLeft" fmla="*/ 0 w 81360"/>
                <a:gd name="textAreaRight" fmla="*/ 81720 w 81360"/>
                <a:gd name="textAreaTop" fmla="*/ 0 h 196560"/>
                <a:gd name="textAreaBottom" fmla="*/ 196920 h 196560"/>
              </a:gdLst>
              <a:ahLst/>
              <a:cxnLst/>
              <a:rect l="textAreaLeft" t="textAreaTop" r="textAreaRight" b="textAreaBottom"/>
              <a:pathLst>
                <a:path w="6527" h="15727">
                  <a:moveTo>
                    <a:pt x="4957" y="1"/>
                  </a:moveTo>
                  <a:cubicBezTo>
                    <a:pt x="4645" y="1"/>
                    <a:pt x="4336" y="24"/>
                    <a:pt x="4028" y="69"/>
                  </a:cubicBezTo>
                  <a:cubicBezTo>
                    <a:pt x="2588" y="280"/>
                    <a:pt x="1700" y="890"/>
                    <a:pt x="1675" y="2250"/>
                  </a:cubicBezTo>
                  <a:lnTo>
                    <a:pt x="1675" y="5040"/>
                  </a:lnTo>
                  <a:cubicBezTo>
                    <a:pt x="1675" y="5348"/>
                    <a:pt x="1426" y="5599"/>
                    <a:pt x="1118" y="5599"/>
                  </a:cubicBezTo>
                  <a:lnTo>
                    <a:pt x="0" y="5599"/>
                  </a:lnTo>
                  <a:lnTo>
                    <a:pt x="0" y="6715"/>
                  </a:lnTo>
                  <a:lnTo>
                    <a:pt x="1118" y="6715"/>
                  </a:lnTo>
                  <a:cubicBezTo>
                    <a:pt x="1426" y="6715"/>
                    <a:pt x="1675" y="6965"/>
                    <a:pt x="1675" y="7274"/>
                  </a:cubicBezTo>
                  <a:lnTo>
                    <a:pt x="1675" y="15727"/>
                  </a:lnTo>
                  <a:lnTo>
                    <a:pt x="3352" y="15727"/>
                  </a:lnTo>
                  <a:lnTo>
                    <a:pt x="3352" y="7274"/>
                  </a:lnTo>
                  <a:cubicBezTo>
                    <a:pt x="3352" y="6965"/>
                    <a:pt x="3602" y="6715"/>
                    <a:pt x="3910" y="6715"/>
                  </a:cubicBezTo>
                  <a:lnTo>
                    <a:pt x="5709" y="6715"/>
                  </a:lnTo>
                  <a:lnTo>
                    <a:pt x="5987" y="5599"/>
                  </a:lnTo>
                  <a:lnTo>
                    <a:pt x="3910" y="5599"/>
                  </a:lnTo>
                  <a:cubicBezTo>
                    <a:pt x="3602" y="5599"/>
                    <a:pt x="3352" y="5348"/>
                    <a:pt x="3352" y="5040"/>
                  </a:cubicBezTo>
                  <a:lnTo>
                    <a:pt x="3352" y="3253"/>
                  </a:lnTo>
                  <a:cubicBezTo>
                    <a:pt x="3352" y="2316"/>
                    <a:pt x="3942" y="1677"/>
                    <a:pt x="4968" y="1504"/>
                  </a:cubicBezTo>
                  <a:cubicBezTo>
                    <a:pt x="5157" y="1473"/>
                    <a:pt x="5339" y="1460"/>
                    <a:pt x="5511" y="1460"/>
                  </a:cubicBezTo>
                  <a:cubicBezTo>
                    <a:pt x="5810" y="1460"/>
                    <a:pt x="6082" y="1498"/>
                    <a:pt x="6324" y="1546"/>
                  </a:cubicBezTo>
                  <a:lnTo>
                    <a:pt x="6526" y="182"/>
                  </a:lnTo>
                  <a:cubicBezTo>
                    <a:pt x="5988" y="62"/>
                    <a:pt x="5468" y="1"/>
                    <a:pt x="4957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2" name="Google Shape;317;p38"/>
            <p:cNvSpPr/>
            <p:nvPr/>
          </p:nvSpPr>
          <p:spPr>
            <a:xfrm>
              <a:off x="7267680" y="3191400"/>
              <a:ext cx="238320" cy="238320"/>
            </a:xfrm>
            <a:custGeom>
              <a:avLst/>
              <a:gdLst>
                <a:gd name="textAreaLeft" fmla="*/ 0 w 238320"/>
                <a:gd name="textAreaRight" fmla="*/ 238680 w 238320"/>
                <a:gd name="textAreaTop" fmla="*/ 0 h 238320"/>
                <a:gd name="textAreaBottom" fmla="*/ 238680 h 238320"/>
              </a:gdLst>
              <a:ahLst/>
              <a:cxnLst/>
              <a:rect l="textAreaLeft" t="textAreaTop" r="textAreaRight" b="textAreaBottom"/>
              <a:pathLst>
                <a:path w="19066" h="19065">
                  <a:moveTo>
                    <a:pt x="2794" y="0"/>
                  </a:moveTo>
                  <a:cubicBezTo>
                    <a:pt x="1255" y="0"/>
                    <a:pt x="1" y="1253"/>
                    <a:pt x="1" y="2793"/>
                  </a:cubicBezTo>
                  <a:lnTo>
                    <a:pt x="1" y="16271"/>
                  </a:lnTo>
                  <a:cubicBezTo>
                    <a:pt x="1" y="17812"/>
                    <a:pt x="1255" y="19065"/>
                    <a:pt x="2794" y="19065"/>
                  </a:cubicBezTo>
                  <a:lnTo>
                    <a:pt x="9571" y="19065"/>
                  </a:lnTo>
                  <a:lnTo>
                    <a:pt x="9571" y="11171"/>
                  </a:lnTo>
                  <a:lnTo>
                    <a:pt x="8453" y="11171"/>
                  </a:lnTo>
                  <a:cubicBezTo>
                    <a:pt x="8145" y="11171"/>
                    <a:pt x="7896" y="10920"/>
                    <a:pt x="7896" y="10612"/>
                  </a:cubicBezTo>
                  <a:lnTo>
                    <a:pt x="7896" y="8378"/>
                  </a:lnTo>
                  <a:cubicBezTo>
                    <a:pt x="7896" y="8070"/>
                    <a:pt x="8145" y="7819"/>
                    <a:pt x="8453" y="7819"/>
                  </a:cubicBezTo>
                  <a:lnTo>
                    <a:pt x="9571" y="7819"/>
                  </a:lnTo>
                  <a:lnTo>
                    <a:pt x="9571" y="5836"/>
                  </a:lnTo>
                  <a:cubicBezTo>
                    <a:pt x="9571" y="3710"/>
                    <a:pt x="10741" y="2615"/>
                    <a:pt x="12878" y="2302"/>
                  </a:cubicBezTo>
                  <a:cubicBezTo>
                    <a:pt x="13231" y="2249"/>
                    <a:pt x="13591" y="2223"/>
                    <a:pt x="13956" y="2223"/>
                  </a:cubicBezTo>
                  <a:cubicBezTo>
                    <a:pt x="14725" y="2223"/>
                    <a:pt x="15517" y="2339"/>
                    <a:pt x="16318" y="2567"/>
                  </a:cubicBezTo>
                  <a:cubicBezTo>
                    <a:pt x="16589" y="2643"/>
                    <a:pt x="16759" y="2908"/>
                    <a:pt x="16718" y="3186"/>
                  </a:cubicBezTo>
                  <a:lnTo>
                    <a:pt x="16352" y="5650"/>
                  </a:lnTo>
                  <a:cubicBezTo>
                    <a:pt x="16329" y="5806"/>
                    <a:pt x="16240" y="5944"/>
                    <a:pt x="16111" y="6031"/>
                  </a:cubicBezTo>
                  <a:cubicBezTo>
                    <a:pt x="16006" y="6102"/>
                    <a:pt x="15912" y="6127"/>
                    <a:pt x="15818" y="6127"/>
                  </a:cubicBezTo>
                  <a:cubicBezTo>
                    <a:pt x="15717" y="6127"/>
                    <a:pt x="15614" y="6098"/>
                    <a:pt x="15494" y="6068"/>
                  </a:cubicBezTo>
                  <a:cubicBezTo>
                    <a:pt x="15202" y="5995"/>
                    <a:pt x="14879" y="5914"/>
                    <a:pt x="14527" y="5914"/>
                  </a:cubicBezTo>
                  <a:cubicBezTo>
                    <a:pt x="14409" y="5914"/>
                    <a:pt x="14289" y="5923"/>
                    <a:pt x="14165" y="5944"/>
                  </a:cubicBezTo>
                  <a:cubicBezTo>
                    <a:pt x="13534" y="6050"/>
                    <a:pt x="13481" y="6333"/>
                    <a:pt x="13481" y="6590"/>
                  </a:cubicBezTo>
                  <a:lnTo>
                    <a:pt x="13481" y="7819"/>
                  </a:lnTo>
                  <a:lnTo>
                    <a:pt x="15715" y="7819"/>
                  </a:lnTo>
                  <a:cubicBezTo>
                    <a:pt x="15887" y="7819"/>
                    <a:pt x="16048" y="7899"/>
                    <a:pt x="16154" y="8035"/>
                  </a:cubicBezTo>
                  <a:cubicBezTo>
                    <a:pt x="16260" y="8169"/>
                    <a:pt x="16297" y="8346"/>
                    <a:pt x="16256" y="8513"/>
                  </a:cubicBezTo>
                  <a:lnTo>
                    <a:pt x="15697" y="10747"/>
                  </a:lnTo>
                  <a:cubicBezTo>
                    <a:pt x="15635" y="10996"/>
                    <a:pt x="15412" y="11170"/>
                    <a:pt x="15156" y="11170"/>
                  </a:cubicBezTo>
                  <a:lnTo>
                    <a:pt x="13481" y="11170"/>
                  </a:lnTo>
                  <a:lnTo>
                    <a:pt x="13481" y="19065"/>
                  </a:lnTo>
                  <a:lnTo>
                    <a:pt x="16272" y="19065"/>
                  </a:lnTo>
                  <a:cubicBezTo>
                    <a:pt x="17813" y="19065"/>
                    <a:pt x="19066" y="17810"/>
                    <a:pt x="19066" y="16271"/>
                  </a:cubicBezTo>
                  <a:lnTo>
                    <a:pt x="19066" y="2793"/>
                  </a:lnTo>
                  <a:cubicBezTo>
                    <a:pt x="19066" y="1253"/>
                    <a:pt x="17813" y="0"/>
                    <a:pt x="16274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53" name="Google Shape;318;p38"/>
          <p:cNvGrpSpPr/>
          <p:nvPr/>
        </p:nvGrpSpPr>
        <p:grpSpPr>
          <a:xfrm>
            <a:off x="8138520" y="3191400"/>
            <a:ext cx="238320" cy="238320"/>
            <a:chOff x="8138520" y="3191400"/>
            <a:chExt cx="238320" cy="238320"/>
          </a:xfrm>
        </p:grpSpPr>
        <p:sp>
          <p:nvSpPr>
            <p:cNvPr id="54" name="Google Shape;319;p38"/>
            <p:cNvSpPr/>
            <p:nvPr/>
          </p:nvSpPr>
          <p:spPr>
            <a:xfrm>
              <a:off x="8188200" y="3233880"/>
              <a:ext cx="13680" cy="13680"/>
            </a:xfrm>
            <a:custGeom>
              <a:avLst/>
              <a:gdLst>
                <a:gd name="textAreaLeft" fmla="*/ 0 w 13680"/>
                <a:gd name="textAreaRight" fmla="*/ 14040 w 13680"/>
                <a:gd name="textAreaTop" fmla="*/ 0 h 13680"/>
                <a:gd name="textAreaBottom" fmla="*/ 14040 h 13680"/>
              </a:gdLst>
              <a:ahLst/>
              <a:cxnLst/>
              <a:rect l="textAreaLeft" t="textAreaTop" r="textAreaRight" b="textAreaBottom"/>
              <a:pathLst>
                <a:path w="1119" h="1117">
                  <a:moveTo>
                    <a:pt x="559" y="1"/>
                  </a:moveTo>
                  <a:cubicBezTo>
                    <a:pt x="251" y="1"/>
                    <a:pt x="0" y="250"/>
                    <a:pt x="0" y="558"/>
                  </a:cubicBezTo>
                  <a:cubicBezTo>
                    <a:pt x="0" y="866"/>
                    <a:pt x="251" y="1117"/>
                    <a:pt x="559" y="1117"/>
                  </a:cubicBezTo>
                  <a:cubicBezTo>
                    <a:pt x="867" y="1117"/>
                    <a:pt x="1118" y="866"/>
                    <a:pt x="1118" y="558"/>
                  </a:cubicBezTo>
                  <a:cubicBezTo>
                    <a:pt x="1118" y="250"/>
                    <a:pt x="867" y="1"/>
                    <a:pt x="559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840" bIns="68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5" name="Google Shape;320;p38"/>
            <p:cNvSpPr/>
            <p:nvPr/>
          </p:nvSpPr>
          <p:spPr>
            <a:xfrm>
              <a:off x="8138520" y="3191400"/>
              <a:ext cx="238320" cy="238320"/>
            </a:xfrm>
            <a:custGeom>
              <a:avLst/>
              <a:gdLst>
                <a:gd name="textAreaLeft" fmla="*/ 0 w 238320"/>
                <a:gd name="textAreaRight" fmla="*/ 238680 w 238320"/>
                <a:gd name="textAreaTop" fmla="*/ 0 h 238320"/>
                <a:gd name="textAreaBottom" fmla="*/ 238680 h 238320"/>
              </a:gdLst>
              <a:ahLst/>
              <a:cxnLst/>
              <a:rect l="textAreaLeft" t="textAreaTop" r="textAreaRight" b="textAreaBottom"/>
              <a:pathLst>
                <a:path w="19065" h="19065">
                  <a:moveTo>
                    <a:pt x="4506" y="2271"/>
                  </a:moveTo>
                  <a:cubicBezTo>
                    <a:pt x="5429" y="2271"/>
                    <a:pt x="6181" y="3023"/>
                    <a:pt x="6181" y="3947"/>
                  </a:cubicBezTo>
                  <a:cubicBezTo>
                    <a:pt x="6181" y="4872"/>
                    <a:pt x="5429" y="5622"/>
                    <a:pt x="4506" y="5622"/>
                  </a:cubicBezTo>
                  <a:cubicBezTo>
                    <a:pt x="3583" y="5622"/>
                    <a:pt x="2831" y="4872"/>
                    <a:pt x="2831" y="3947"/>
                  </a:cubicBezTo>
                  <a:cubicBezTo>
                    <a:pt x="2831" y="3023"/>
                    <a:pt x="3583" y="2271"/>
                    <a:pt x="4506" y="2271"/>
                  </a:cubicBezTo>
                  <a:close/>
                  <a:moveTo>
                    <a:pt x="5622" y="6740"/>
                  </a:moveTo>
                  <a:cubicBezTo>
                    <a:pt x="5932" y="6740"/>
                    <a:pt x="6181" y="6989"/>
                    <a:pt x="6181" y="7299"/>
                  </a:cubicBezTo>
                  <a:lnTo>
                    <a:pt x="6181" y="16234"/>
                  </a:lnTo>
                  <a:cubicBezTo>
                    <a:pt x="6181" y="16544"/>
                    <a:pt x="5932" y="16793"/>
                    <a:pt x="5622" y="16793"/>
                  </a:cubicBezTo>
                  <a:lnTo>
                    <a:pt x="3388" y="16793"/>
                  </a:lnTo>
                  <a:cubicBezTo>
                    <a:pt x="3080" y="16793"/>
                    <a:pt x="2831" y="16544"/>
                    <a:pt x="2831" y="16234"/>
                  </a:cubicBezTo>
                  <a:lnTo>
                    <a:pt x="2831" y="7299"/>
                  </a:lnTo>
                  <a:cubicBezTo>
                    <a:pt x="2831" y="6989"/>
                    <a:pt x="3080" y="6740"/>
                    <a:pt x="3388" y="6740"/>
                  </a:cubicBezTo>
                  <a:close/>
                  <a:moveTo>
                    <a:pt x="12596" y="6721"/>
                  </a:moveTo>
                  <a:cubicBezTo>
                    <a:pt x="12811" y="6721"/>
                    <a:pt x="13027" y="6739"/>
                    <a:pt x="13241" y="6774"/>
                  </a:cubicBezTo>
                  <a:cubicBezTo>
                    <a:pt x="15058" y="7069"/>
                    <a:pt x="16235" y="8557"/>
                    <a:pt x="16235" y="10223"/>
                  </a:cubicBezTo>
                  <a:lnTo>
                    <a:pt x="16235" y="16234"/>
                  </a:lnTo>
                  <a:cubicBezTo>
                    <a:pt x="16235" y="16544"/>
                    <a:pt x="15985" y="16793"/>
                    <a:pt x="15676" y="16793"/>
                  </a:cubicBezTo>
                  <a:lnTo>
                    <a:pt x="13441" y="16793"/>
                  </a:lnTo>
                  <a:cubicBezTo>
                    <a:pt x="13133" y="16793"/>
                    <a:pt x="12884" y="16544"/>
                    <a:pt x="12884" y="16234"/>
                  </a:cubicBezTo>
                  <a:lnTo>
                    <a:pt x="12884" y="11209"/>
                  </a:lnTo>
                  <a:cubicBezTo>
                    <a:pt x="12884" y="10593"/>
                    <a:pt x="12382" y="10091"/>
                    <a:pt x="11766" y="10091"/>
                  </a:cubicBezTo>
                  <a:cubicBezTo>
                    <a:pt x="11150" y="10091"/>
                    <a:pt x="10650" y="10593"/>
                    <a:pt x="10650" y="11209"/>
                  </a:cubicBezTo>
                  <a:lnTo>
                    <a:pt x="10650" y="16234"/>
                  </a:lnTo>
                  <a:cubicBezTo>
                    <a:pt x="10650" y="16544"/>
                    <a:pt x="10399" y="16793"/>
                    <a:pt x="10091" y="16793"/>
                  </a:cubicBezTo>
                  <a:lnTo>
                    <a:pt x="7857" y="16793"/>
                  </a:lnTo>
                  <a:cubicBezTo>
                    <a:pt x="7547" y="16793"/>
                    <a:pt x="7298" y="16544"/>
                    <a:pt x="7298" y="16234"/>
                  </a:cubicBezTo>
                  <a:lnTo>
                    <a:pt x="7298" y="7299"/>
                  </a:lnTo>
                  <a:cubicBezTo>
                    <a:pt x="7298" y="6989"/>
                    <a:pt x="7547" y="6740"/>
                    <a:pt x="7857" y="6740"/>
                  </a:cubicBezTo>
                  <a:lnTo>
                    <a:pt x="10091" y="6740"/>
                  </a:lnTo>
                  <a:cubicBezTo>
                    <a:pt x="10377" y="6740"/>
                    <a:pt x="10613" y="6956"/>
                    <a:pt x="10644" y="7234"/>
                  </a:cubicBezTo>
                  <a:cubicBezTo>
                    <a:pt x="11219" y="6901"/>
                    <a:pt x="11901" y="6721"/>
                    <a:pt x="12596" y="6721"/>
                  </a:cubicBezTo>
                  <a:close/>
                  <a:moveTo>
                    <a:pt x="2831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31" y="19065"/>
                  </a:cubicBezTo>
                  <a:lnTo>
                    <a:pt x="16235" y="19065"/>
                  </a:lnTo>
                  <a:cubicBezTo>
                    <a:pt x="17774" y="19065"/>
                    <a:pt x="19065" y="17775"/>
                    <a:pt x="19065" y="16234"/>
                  </a:cubicBezTo>
                  <a:lnTo>
                    <a:pt x="19065" y="2831"/>
                  </a:lnTo>
                  <a:cubicBezTo>
                    <a:pt x="19065" y="1290"/>
                    <a:pt x="17774" y="0"/>
                    <a:pt x="16235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6" name="Google Shape;321;p38"/>
            <p:cNvSpPr/>
            <p:nvPr/>
          </p:nvSpPr>
          <p:spPr>
            <a:xfrm>
              <a:off x="8244000" y="3289320"/>
              <a:ext cx="83520" cy="97920"/>
            </a:xfrm>
            <a:custGeom>
              <a:avLst/>
              <a:gdLst>
                <a:gd name="textAreaLeft" fmla="*/ 0 w 83520"/>
                <a:gd name="textAreaRight" fmla="*/ 83880 w 83520"/>
                <a:gd name="textAreaTop" fmla="*/ 0 h 97920"/>
                <a:gd name="textAreaBottom" fmla="*/ 98280 h 97920"/>
              </a:gdLst>
              <a:ahLst/>
              <a:cxnLst/>
              <a:rect l="textAreaLeft" t="textAreaTop" r="textAreaRight" b="textAreaBottom"/>
              <a:pathLst>
                <a:path w="6704" h="7837">
                  <a:moveTo>
                    <a:pt x="4182" y="0"/>
                  </a:moveTo>
                  <a:cubicBezTo>
                    <a:pt x="3474" y="0"/>
                    <a:pt x="2782" y="261"/>
                    <a:pt x="2332" y="711"/>
                  </a:cubicBezTo>
                  <a:cubicBezTo>
                    <a:pt x="2108" y="935"/>
                    <a:pt x="1938" y="1142"/>
                    <a:pt x="1686" y="1142"/>
                  </a:cubicBezTo>
                  <a:cubicBezTo>
                    <a:pt x="1618" y="1142"/>
                    <a:pt x="1544" y="1127"/>
                    <a:pt x="1462" y="1093"/>
                  </a:cubicBezTo>
                  <a:cubicBezTo>
                    <a:pt x="1253" y="1006"/>
                    <a:pt x="1117" y="803"/>
                    <a:pt x="1117" y="576"/>
                  </a:cubicBezTo>
                  <a:lnTo>
                    <a:pt x="1117" y="17"/>
                  </a:lnTo>
                  <a:lnTo>
                    <a:pt x="1" y="17"/>
                  </a:lnTo>
                  <a:lnTo>
                    <a:pt x="1" y="7836"/>
                  </a:lnTo>
                  <a:lnTo>
                    <a:pt x="1117" y="7836"/>
                  </a:lnTo>
                  <a:lnTo>
                    <a:pt x="1117" y="3370"/>
                  </a:lnTo>
                  <a:cubicBezTo>
                    <a:pt x="1117" y="2137"/>
                    <a:pt x="2120" y="1135"/>
                    <a:pt x="3351" y="1135"/>
                  </a:cubicBezTo>
                  <a:cubicBezTo>
                    <a:pt x="4584" y="1135"/>
                    <a:pt x="5585" y="2137"/>
                    <a:pt x="5585" y="3370"/>
                  </a:cubicBezTo>
                  <a:lnTo>
                    <a:pt x="5585" y="7836"/>
                  </a:lnTo>
                  <a:lnTo>
                    <a:pt x="6703" y="7836"/>
                  </a:lnTo>
                  <a:lnTo>
                    <a:pt x="6703" y="2384"/>
                  </a:lnTo>
                  <a:cubicBezTo>
                    <a:pt x="6703" y="1266"/>
                    <a:pt x="5932" y="245"/>
                    <a:pt x="4648" y="38"/>
                  </a:cubicBezTo>
                  <a:cubicBezTo>
                    <a:pt x="4493" y="13"/>
                    <a:pt x="4337" y="0"/>
                    <a:pt x="4182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8960" bIns="489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7" name="Google Shape;322;p38"/>
            <p:cNvSpPr/>
            <p:nvPr/>
          </p:nvSpPr>
          <p:spPr>
            <a:xfrm>
              <a:off x="8188200" y="3289680"/>
              <a:ext cx="13680" cy="97560"/>
            </a:xfrm>
            <a:custGeom>
              <a:avLst/>
              <a:gdLst>
                <a:gd name="textAreaLeft" fmla="*/ 0 w 13680"/>
                <a:gd name="textAreaRight" fmla="*/ 14040 w 13680"/>
                <a:gd name="textAreaTop" fmla="*/ 0 h 97560"/>
                <a:gd name="textAreaBottom" fmla="*/ 97920 h 97560"/>
              </a:gdLst>
              <a:ahLst/>
              <a:cxnLst/>
              <a:rect l="textAreaLeft" t="textAreaTop" r="textAreaRight" b="textAreaBottom"/>
              <a:pathLst>
                <a:path w="1119" h="7820">
                  <a:moveTo>
                    <a:pt x="0" y="0"/>
                  </a:moveTo>
                  <a:lnTo>
                    <a:pt x="0" y="7819"/>
                  </a:lnTo>
                  <a:lnTo>
                    <a:pt x="1118" y="7819"/>
                  </a:lnTo>
                  <a:lnTo>
                    <a:pt x="1118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8960" bIns="489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58" name="Google Shape;323;p38"/>
          <p:cNvGrpSpPr/>
          <p:nvPr/>
        </p:nvGrpSpPr>
        <p:grpSpPr>
          <a:xfrm>
            <a:off x="7701840" y="3191400"/>
            <a:ext cx="238320" cy="238320"/>
            <a:chOff x="7701840" y="3191400"/>
            <a:chExt cx="238320" cy="238320"/>
          </a:xfrm>
        </p:grpSpPr>
        <p:sp>
          <p:nvSpPr>
            <p:cNvPr id="59" name="Google Shape;324;p38"/>
            <p:cNvSpPr/>
            <p:nvPr/>
          </p:nvSpPr>
          <p:spPr>
            <a:xfrm>
              <a:off x="7744320" y="3233880"/>
              <a:ext cx="153360" cy="153360"/>
            </a:xfrm>
            <a:custGeom>
              <a:avLst/>
              <a:gdLst>
                <a:gd name="textAreaLeft" fmla="*/ 0 w 153360"/>
                <a:gd name="textAreaRight" fmla="*/ 153720 w 153360"/>
                <a:gd name="textAreaTop" fmla="*/ 0 h 153360"/>
                <a:gd name="textAreaBottom" fmla="*/ 153720 h 153360"/>
              </a:gdLst>
              <a:ahLst/>
              <a:cxnLst/>
              <a:rect l="textAreaLeft" t="textAreaTop" r="textAreaRight" b="textAreaBottom"/>
              <a:pathLst>
                <a:path w="12288" h="12287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6680" bIns="76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0" name="Google Shape;325;p38"/>
            <p:cNvSpPr/>
            <p:nvPr/>
          </p:nvSpPr>
          <p:spPr>
            <a:xfrm>
              <a:off x="7786440" y="3275640"/>
              <a:ext cx="69480" cy="69480"/>
            </a:xfrm>
            <a:custGeom>
              <a:avLst/>
              <a:gdLst>
                <a:gd name="textAreaLeft" fmla="*/ 0 w 69480"/>
                <a:gd name="textAreaRight" fmla="*/ 69840 w 69480"/>
                <a:gd name="textAreaTop" fmla="*/ 0 h 69480"/>
                <a:gd name="textAreaBottom" fmla="*/ 69840 h 69480"/>
              </a:gdLst>
              <a:ahLst/>
              <a:cxnLst/>
              <a:rect l="textAreaLeft" t="textAreaTop" r="textAreaRight" b="textAreaBottom"/>
              <a:pathLst>
                <a:path w="5588" h="5585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4920" bIns="349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1" name="Google Shape;326;p38"/>
            <p:cNvSpPr/>
            <p:nvPr/>
          </p:nvSpPr>
          <p:spPr>
            <a:xfrm>
              <a:off x="7701840" y="3191400"/>
              <a:ext cx="238320" cy="238320"/>
            </a:xfrm>
            <a:custGeom>
              <a:avLst/>
              <a:gdLst>
                <a:gd name="textAreaLeft" fmla="*/ 0 w 238320"/>
                <a:gd name="textAreaRight" fmla="*/ 238680 w 238320"/>
                <a:gd name="textAreaTop" fmla="*/ 0 h 238320"/>
                <a:gd name="textAreaBottom" fmla="*/ 238680 h 238320"/>
              </a:gdLst>
              <a:ahLst/>
              <a:cxnLst/>
              <a:rect l="textAreaLeft" t="textAreaTop" r="textAreaRight" b="textAreaBottom"/>
              <a:pathLst>
                <a:path w="19064" h="19065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Dark Theme by Slidesgo">
  <a:themeElements>
    <a:clrScheme name="Simple Light">
      <a:dk1>
        <a:srgbClr val="ffffff"/>
      </a:dk1>
      <a:lt1>
        <a:srgbClr val="0d0d0d"/>
      </a:lt1>
      <a:dk2>
        <a:srgbClr val="ffffff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LibreOffice/25.8.1.1$Linux_X86_64 LibreOffice_project/580$Build-1</Application>
  <AppVersion>15.0000</AppVersion>
  <Company>Microsoft Corporation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2026-06-01T17:30:45Z</dcterms:created>
  <dc:creator>Unknown Creator</dc:creator>
  <dc:description/>
  <dc:language>en-US</dc:language>
  <cp:lastModifiedBy>Unknown Creator</cp:lastModifiedBy>
  <dcterms:modified xsi:type="dcterms:W3CDTF">2026-06-01T17:30:45Z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12</vt:r8>
  </property>
</Properties>
</file>